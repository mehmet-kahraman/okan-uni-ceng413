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25"/>
  </p:normalViewPr>
  <p:slideViewPr>
    <p:cSldViewPr snapToGrid="0" snapToObjects="1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1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31950"/>
            <a:ext cx="10566400" cy="401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31950"/>
            <a:ext cx="10566400" cy="401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101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3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20 OCTOBER 2026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62250"/>
            <a:ext cx="1088339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that find each other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65884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HW-1 review, container networking by name, Docker Compose, and state that lives outside the app.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Mehmet Kahraman · ATPTech · Quality theme: portability and statelessness</a:t>
            </a:r>
            <a:endParaRPr lang="en-US" sz="12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3FAFB63-9D13-690E-AF1B-C4502718A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6703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plan for two and a half hours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610147"/>
              </p:ext>
            </p:extLst>
          </p:nvPr>
        </p:nvGraphicFramePr>
        <p:xfrm>
          <a:off x="825500" y="1993850"/>
          <a:ext cx="10553700" cy="3302000"/>
        </p:xfrm>
        <a:graphic>
          <a:graphicData uri="http://schemas.openxmlformats.org/drawingml/2006/table">
            <a:tbl>
              <a:tblPr/>
              <a:tblGrid>
                <a:gridCol w="1899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Welcome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charset="0"/>
                          <a:cs typeface="IBM Plex Sans" charset="0"/>
                        </a:rPr>
                        <a:t>Opening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14:05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we work in class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language, your questions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HW-1: a good solution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Look, check, discuss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Names and Compose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Concepts and two live demos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15:30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minutes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15:45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Compose with a partner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16:20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Wrap-up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HW-2 and Week 6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1F2B2A-0724-A18C-82EC-086695406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WORK IN CLASS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questions make this class better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3380284" cy="1586111"/>
          </a:xfrm>
          <a:prstGeom prst="roundRect">
            <a:avLst>
              <a:gd name="adj" fmla="val 6205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591991"/>
            <a:ext cx="300423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Türkçe sorabilirsiniz, Türkçe cevap verebilirsiniz. I will help you say it in English.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1984325"/>
            <a:ext cx="3380333" cy="1586111"/>
          </a:xfrm>
          <a:prstGeom prst="roundRect">
            <a:avLst>
              <a:gd name="adj" fmla="val 6205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37584" y="221610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Neighbor first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7584" y="2591991"/>
            <a:ext cx="300428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ask, you talk to your neighbor for one minute. Then one person says what you decided.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92" y="1984325"/>
            <a:ext cx="3380333" cy="1586111"/>
          </a:xfrm>
          <a:prstGeom prst="roundRect">
            <a:avLst>
              <a:gd name="adj" fmla="val 6205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8227467" y="221610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is useful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7467" y="2591991"/>
            <a:ext cx="300428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wrong guess shows us what to explain. Nobody loses points for a guess.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827611"/>
            <a:ext cx="10566400" cy="1305520"/>
          </a:xfrm>
          <a:prstGeom prst="roundRect">
            <a:avLst>
              <a:gd name="adj" fmla="val 7782"/>
            </a:avLst>
          </a:prstGeom>
          <a:solidFill>
            <a:srgbClr val="F5F3EE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1041400" y="4030811"/>
            <a:ext cx="104124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USEFUL SENTENCES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4320332"/>
            <a:ext cx="1041247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 think the answer is…” · “Could you repeat that, please?” · “I don’t understand this line.” · “Can I say it in Turkish?”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997635F-8E7A-10AA-2915-567C7747A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HW-1 · OUR EXAMPLE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 good solution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4395242" cy="2800201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404964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repository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561530"/>
            <a:ext cx="4049643" cy="201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app.py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test_app.py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requirements.txt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Dockerfile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.dockerignore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README.md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17592" y="1981150"/>
            <a:ext cx="5961608" cy="2806551"/>
          </a:xfrm>
          <a:prstGeom prst="roundRect">
            <a:avLst>
              <a:gd name="adj" fmla="val 3620"/>
            </a:avLst>
          </a:prstGeom>
          <a:solidFill>
            <a:srgbClr val="0E1B2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5646192" y="2209750"/>
            <a:ext cx="5669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Dockerfile, in short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46192" y="2580580"/>
            <a:ext cx="5669540" cy="17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python:3.12-slim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 .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-r requirements.txt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 appuser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["gunicorn", "app:app"]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5041702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Pinned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cache-friendly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non-root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configurable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686E5C1-7488-A0B5-8096-E1FE24A3E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HW-1 · THE CHECKLIST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check is a command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50"/>
          <a:ext cx="10553700" cy="2702077"/>
        </p:xfrm>
        <a:graphic>
          <a:graphicData uri="http://schemas.openxmlformats.org/drawingml/2006/table">
            <a:tbl>
              <a:tblPr/>
              <a:tblGrid>
                <a:gridCol w="443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 check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we check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Builds from a clean clone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clone, then docker build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image is pinned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Look at the FROM line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 before 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history shows the layers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Runs as non-root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exec CONTAINER id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secrets inside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Search the repo for password and token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 from environment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run -e APP_GREETING=Merhaba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4E9CAA-3CC4-F5EC-1310-4A871500B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TWO-MINUTE SELF-CHECK · WITH YOUR NEIGHBOR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your own Dockerfile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3380284" cy="1936651"/>
          </a:xfrm>
          <a:prstGeom prst="roundRect">
            <a:avLst>
              <a:gd name="adj" fmla="val 5082"/>
            </a:avLst>
          </a:prstGeom>
          <a:solidFill>
            <a:srgbClr val="0E1B2A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3004236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7750" y="2866330"/>
            <a:ext cx="30042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at the first line. Does the image have a version tag? Is it latest?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809" y="1984325"/>
            <a:ext cx="3380333" cy="1936651"/>
          </a:xfrm>
          <a:prstGeom prst="roundRect">
            <a:avLst>
              <a:gd name="adj" fmla="val 5082"/>
            </a:avLst>
          </a:prstGeom>
          <a:solidFill>
            <a:srgbClr val="0E1B2A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37584" y="2216100"/>
            <a:ext cx="3004287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37584" y="2866330"/>
            <a:ext cx="3004287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comes first: installing the libraries, or copying all your code?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92" y="1984325"/>
            <a:ext cx="3380333" cy="1936651"/>
          </a:xfrm>
          <a:prstGeom prst="roundRect">
            <a:avLst>
              <a:gd name="adj" fmla="val 5082"/>
            </a:avLst>
          </a:prstGeom>
          <a:solidFill>
            <a:srgbClr val="0E1B2A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8227467" y="2216100"/>
            <a:ext cx="3004287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7467" y="2866330"/>
            <a:ext cx="3004287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there a line that switches to a user that is not root?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17815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your neighbor what you found. Nobody has to show their screen.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4D9220D-1966-9770-F430-6C92B6B4C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5838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3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OPEN QUESTION FROM LAST WEEK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6127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one container find another?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056311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week we saw volumes. Names and networks were your research task. Today we answer it together.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1305CA1-9E1A-CA57-86E2-F2BD2609C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NETWORKING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IP address is not a good address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4737100" cy="1038820"/>
          </a:xfrm>
          <a:prstGeom prst="roundRect">
            <a:avLst>
              <a:gd name="adj" fmla="val 9169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28700" y="2197050"/>
            <a:ext cx="44475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567880"/>
            <a:ext cx="44475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172.17.0.2</a:t>
            </a:r>
            <a:endParaRPr lang="en-US" sz="14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2329111"/>
            <a:ext cx="762000" cy="355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35750" y="1987500"/>
            <a:ext cx="4737100" cy="1038820"/>
          </a:xfrm>
          <a:prstGeom prst="roundRect">
            <a:avLst>
              <a:gd name="adj" fmla="val 9169"/>
            </a:avLst>
          </a:prstGeom>
          <a:solidFill>
            <a:srgbClr val="FFFFFF"/>
          </a:solidFill>
          <a:ln w="12700">
            <a:solidFill>
              <a:srgbClr val="B5560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/>
          <p:nvPr/>
        </p:nvSpPr>
        <p:spPr>
          <a:xfrm>
            <a:off x="6845300" y="2197050"/>
            <a:ext cx="44475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45300" y="2567880"/>
            <a:ext cx="44475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172.17.0.3 (today)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0458" y="3286671"/>
            <a:ext cx="1081811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container gets an IP address when it starts.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a restart, it can be a different address.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we do not write addresses in code. We write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546BBA7-4229-014C-B93D-80B450F5C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 1 · 10 MINUTES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network and your own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900"/>
            <a:ext cx="10553700" cy="1424880"/>
          </a:xfrm>
          <a:prstGeom prst="roundRect">
            <a:avLst>
              <a:gd name="adj" fmla="val 668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54100" y="2070050"/>
            <a:ext cx="1038631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network: no names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4100" y="2395141"/>
            <a:ext cx="10386314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cache redis:7-alpine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--rm --entrypoint ping redis:7-alpine -c1 cache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ping: bad address 'cache'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9150" y="3526681"/>
            <a:ext cx="10553700" cy="1668711"/>
          </a:xfrm>
          <a:prstGeom prst="roundRect">
            <a:avLst>
              <a:gd name="adj" fmla="val 5708"/>
            </a:avLst>
          </a:prstGeom>
          <a:solidFill>
            <a:srgbClr val="FFFFFF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1054100" y="3710831"/>
            <a:ext cx="1038631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own network: names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4100" y="4035921"/>
            <a:ext cx="10386314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create app-net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cache --network app-net redis:7-alpine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--rm --network app-net --entrypoint ping redis:7-alpine -c1 cache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PING cache (172.18.0.2)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8630DC2-216F-444A-0D1F-C24131B14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 APPLICATION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Several containers, one job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06216"/>
            <a:ext cx="2095500" cy="928340"/>
          </a:xfrm>
          <a:prstGeom prst="roundRect">
            <a:avLst>
              <a:gd name="adj" fmla="val 10602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96950" y="2287191"/>
            <a:ext cx="17855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950" y="2622451"/>
            <a:ext cx="17855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or curl</a:t>
            </a:r>
            <a:endParaRPr lang="en-US" sz="13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1650" y="2418011"/>
            <a:ext cx="457200" cy="30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32200" y="1987500"/>
            <a:ext cx="2101850" cy="1165820"/>
          </a:xfrm>
          <a:prstGeom prst="roundRect">
            <a:avLst>
              <a:gd name="adj" fmla="val 8170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/>
          <p:nvPr/>
        </p:nvSpPr>
        <p:spPr>
          <a:xfrm>
            <a:off x="3816350" y="2171650"/>
            <a:ext cx="17855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6350" y="2506911"/>
            <a:ext cx="178555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Flask code, port 8000</a:t>
            </a:r>
            <a:endParaRPr lang="en-US" sz="13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400" y="2418011"/>
            <a:ext cx="457200" cy="304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57950" y="1987500"/>
            <a:ext cx="2101850" cy="1165820"/>
          </a:xfrm>
          <a:prstGeom prst="roundRect">
            <a:avLst>
              <a:gd name="adj" fmla="val 8170"/>
            </a:avLst>
          </a:prstGeom>
          <a:solidFill>
            <a:srgbClr val="FFFFFF"/>
          </a:solidFill>
          <a:ln w="12700">
            <a:solidFill>
              <a:srgbClr val="B5560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9"/>
          <p:cNvSpPr/>
          <p:nvPr/>
        </p:nvSpPr>
        <p:spPr>
          <a:xfrm>
            <a:off x="6642100" y="2171650"/>
            <a:ext cx="17855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42100" y="2506911"/>
            <a:ext cx="178555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Redis, keeps the counter</a:t>
            </a:r>
            <a:endParaRPr lang="en-US" sz="13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93150" y="2418011"/>
            <a:ext cx="457200" cy="304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280525" y="2106216"/>
            <a:ext cx="2095500" cy="928340"/>
          </a:xfrm>
          <a:prstGeom prst="roundRect">
            <a:avLst>
              <a:gd name="adj" fmla="val 10602"/>
            </a:avLst>
          </a:prstGeom>
          <a:solidFill>
            <a:srgbClr val="FFFFFF"/>
          </a:solidFill>
          <a:ln w="6350">
            <a:solidFill>
              <a:srgbClr val="6A7179"/>
            </a:solidFill>
            <a:prstDash val="dash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2"/>
          <p:cNvSpPr/>
          <p:nvPr/>
        </p:nvSpPr>
        <p:spPr>
          <a:xfrm>
            <a:off x="9461500" y="2287191"/>
            <a:ext cx="17855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461500" y="2622451"/>
            <a:ext cx="17855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on disk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0458" y="3413671"/>
            <a:ext cx="1081811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is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stateless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you can delete and replace it.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state lives in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another service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in a volume.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F451637-EB0A-D481-6051-AEFA3C5AA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commands, or one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10566400" cy="1612702"/>
          </a:xfrm>
          <a:prstGeom prst="roundRect">
            <a:avLst>
              <a:gd name="adj" fmla="val 6300"/>
            </a:avLst>
          </a:prstGeom>
          <a:solidFill>
            <a:srgbClr val="0E1B2A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create app-net</a:t>
            </a:r>
            <a:endParaRPr lang="en-US" sz="12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volume create redisdata</a:t>
            </a:r>
            <a:endParaRPr lang="en-US" sz="12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cache --network app-net -v redisdata:/data redis:7-alpine</a:t>
            </a:r>
            <a:endParaRPr lang="en-US" sz="12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build -t lab:v3 .</a:t>
            </a:r>
            <a:endParaRPr lang="en-US" sz="12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app --network app-net -p 8000:8000 -e REDIS_HOST=cache lab:v3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3701802"/>
            <a:ext cx="5175250" cy="104646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1028700" y="3911352"/>
            <a:ext cx="48988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Compose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4272012"/>
            <a:ext cx="48988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up -d --build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07125" y="3698627"/>
            <a:ext cx="5168900" cy="1052810"/>
          </a:xfrm>
          <a:prstGeom prst="roundRect">
            <a:avLst>
              <a:gd name="adj" fmla="val 934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 wrap="square" lIns="177547" tIns="177547" rIns="34863" bIns="17754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system is described in </a:t>
            </a: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lives in Git. Anyone gets the same setup.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F84173-BA68-5A72-4249-2EF2310CE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COMPOSE.YAML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ideas in one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5860455" cy="3556000"/>
          </a:xfrm>
          <a:prstGeom prst="roundRect">
            <a:avLst>
              <a:gd name="adj" fmla="val 2857"/>
            </a:avLst>
          </a:prstGeom>
          <a:solidFill>
            <a:srgbClr val="0E1B2A"/>
          </a:solidFill>
          <a:ln/>
        </p:spPr>
        <p:txBody>
          <a:bodyPr wrap="square" lIns="198842" tIns="148042" rIns="36745" bIns="12264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services: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app: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build: .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ports: ["8000:8000"]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environment: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REDIS_HOST: cache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depends_on: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cache: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condition: service_healthy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cache: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image: redis:7-alpine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volumes: ["redisdata:/data"]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volumes: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redisdata: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79630" y="1882725"/>
            <a:ext cx="4496395" cy="483195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 wrap="square" lIns="152147" tIns="101347" rIns="28114" bIns="75947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name = host name.</a:t>
            </a: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app says cache.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79630" y="2473871"/>
            <a:ext cx="4496395" cy="483195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 wrap="square" lIns="152147" tIns="101347" rIns="28114" bIns="75947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uses our Dockerfile.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uses a ready one.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79630" y="3065016"/>
            <a:ext cx="4496395" cy="706041"/>
          </a:xfrm>
          <a:prstGeom prst="roundRect">
            <a:avLst>
              <a:gd name="adj" fmla="val 1394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 wrap="square" lIns="152147" tIns="101347" rIns="28114" bIns="75947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depends_on</a:t>
            </a: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waits until cache is healthy, not only started.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79630" y="3879007"/>
            <a:ext cx="4496395" cy="483195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 wrap="square" lIns="152147" tIns="101347" rIns="28114" bIns="75947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volumes</a:t>
            </a: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keep the data outside the container.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34601-9799-2F7C-D50A-754926F66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 2 · 12 MINUTES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the whole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5991225" cy="2320082"/>
          </a:xfrm>
          <a:prstGeom prst="roundRect">
            <a:avLst>
              <a:gd name="adj" fmla="val 4379"/>
            </a:avLst>
          </a:prstGeom>
          <a:solidFill>
            <a:srgbClr val="0E1B2A"/>
          </a:solidFill>
          <a:ln/>
        </p:spPr>
        <p:txBody>
          <a:bodyPr wrap="square" lIns="198842" tIns="148042" rIns="32822" bIns="122642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up -d --build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ps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localhost:8000/visit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localhost:8000/visit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logs app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ls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down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10400" y="1882725"/>
            <a:ext cx="4365625" cy="2313732"/>
          </a:xfrm>
          <a:prstGeom prst="roundRect">
            <a:avLst>
              <a:gd name="adj" fmla="val 4254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7216775" y="2063700"/>
            <a:ext cx="40714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95007" y="2409130"/>
            <a:ext cx="3985609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becomes healthy first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network is created for us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counter says redis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B9A80D7-6670-A6DA-3436-287BEFE9C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FIRST · TALK TO YOUR NEIGHBOR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to the counter?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3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counter is at 4. We run each experiment on its own, then call /visit once.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56111"/>
          <a:ext cx="10553700" cy="1651000"/>
        </p:xfrm>
        <a:graphic>
          <a:graphicData uri="http://schemas.openxmlformats.org/drawingml/2006/table">
            <a:tbl>
              <a:tblPr/>
              <a:tblGrid>
                <a:gridCol w="126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Counter is…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compose rm -sf app, then up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continues, or back to 1?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compose down, then up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continues, or back to 1?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compose down -v, then up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continues, or back to 1?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946C3-AC68-1FA7-9474-190BD9141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QUALITY: PORTABILITY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habits of a portable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3380284" cy="1949351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3004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outside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7750" y="2622500"/>
            <a:ext cx="300423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come from environment variables. The same image runs everywhere.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3470771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REDIS_HOST=cache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09" y="1984325"/>
            <a:ext cx="3380333" cy="1949351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4637584" y="2216100"/>
            <a:ext cx="30042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outside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7584" y="2622500"/>
            <a:ext cx="300428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keeps nothing on its own disk. Data lives in a backing service.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7584" y="3221881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client.incr("visits")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692" y="1984325"/>
            <a:ext cx="3380333" cy="1949351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8227467" y="2216100"/>
            <a:ext cx="30042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7467" y="2622500"/>
            <a:ext cx="300428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starts fast and can be stopped at any moment, then replaced.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7467" y="3221881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rm -sf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1908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These ideas come from the Twelve-Factor App, a well-known checklist for apps that run in containers and in the cloud.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4C3B02-DBE8-E667-BA08-4E2282A15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SHARING IMAGES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registry stores images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10566400" cy="1085850"/>
          </a:xfrm>
          <a:prstGeom prst="roundRect">
            <a:avLst>
              <a:gd name="adj" fmla="val 9357"/>
            </a:avLst>
          </a:prstGeom>
          <a:solidFill>
            <a:srgbClr val="0E1B2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1400" y="2133550"/>
            <a:ext cx="1041247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A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localhost:5000</a:t>
            </a:r>
            <a:r>
              <a:rPr lang="en-US" sz="20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</a:t>
            </a:r>
            <a:r>
              <a:rPr lang="en-US" sz="2000" dirty="0">
                <a:solidFill>
                  <a:srgbClr val="7FB0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ceng413</a:t>
            </a:r>
            <a:r>
              <a:rPr lang="en-US" sz="20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/lab:</a:t>
            </a:r>
            <a:r>
              <a:rPr lang="en-US" sz="2000" dirty="0">
                <a:solidFill>
                  <a:srgbClr val="9AD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400" y="2565350"/>
            <a:ext cx="1041247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 address</a:t>
            </a:r>
            <a:r>
              <a:rPr lang="en-US" sz="13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300" dirty="0">
                <a:solidFill>
                  <a:srgbClr val="7FB0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namespace</a:t>
            </a:r>
            <a:r>
              <a:rPr lang="en-US" sz="13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image name · </a:t>
            </a:r>
            <a:r>
              <a:rPr lang="en-US" sz="1300" dirty="0">
                <a:solidFill>
                  <a:srgbClr val="9AD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244800"/>
            <a:ext cx="10566400" cy="1197521"/>
          </a:xfrm>
          <a:prstGeom prst="roundRect">
            <a:avLst>
              <a:gd name="adj" fmla="val 8484"/>
            </a:avLst>
          </a:prstGeom>
          <a:solidFill>
            <a:srgbClr val="0E1B2A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tag lab:v3 localhost:5000/ceng413/lab:v3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push localhost:5000/ceng413/lab:v3</a:t>
            </a:r>
            <a:endParaRPr lang="en-US" sz="13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pull localhost:5000/ceng413/lab:v3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6709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Hub is the default registry, so </a:t>
            </a: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redis:7-alpine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really means docker.io/library/redis:7-alpine.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1C9D51-3B0E-61B6-5119-D7B48F251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796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3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· 15 MINUTES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3174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 at 15:45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35040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During the break: check that </a:t>
            </a:r>
            <a:r>
              <a:rPr lang="en-US" sz="1800" b="1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 version</a:t>
            </a:r>
            <a:r>
              <a:rPr lang="en-US" sz="18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works, and run </a:t>
            </a:r>
            <a:r>
              <a:rPr lang="en-US" sz="1800" b="1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pull</a:t>
            </a:r>
            <a:r>
              <a:rPr lang="en-US" sz="18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your clone of the course repository.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12E90F-977C-80E2-CED0-B94FC4CB1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· 35 MINUTES · WORK WITH A PARTNER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Compose, names and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25"/>
            <a:ext cx="2520950" cy="1195040"/>
          </a:xfrm>
          <a:prstGeom prst="roundRect">
            <a:avLst>
              <a:gd name="adj" fmla="val 8236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22350" y="213990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Names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459930"/>
            <a:ext cx="217144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network fails, your own network works.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933525"/>
            <a:ext cx="2520950" cy="1195040"/>
          </a:xfrm>
          <a:prstGeom prst="roundRect">
            <a:avLst>
              <a:gd name="adj" fmla="val 8236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3702050" y="213990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Compose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2050" y="2459930"/>
            <a:ext cx="217144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app and cache with one command.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933525"/>
            <a:ext cx="2520950" cy="1195040"/>
          </a:xfrm>
          <a:prstGeom prst="roundRect">
            <a:avLst>
              <a:gd name="adj" fmla="val 8236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6381750" y="213990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State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1750" y="2459930"/>
            <a:ext cx="217144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the counter after A, B and 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933525"/>
            <a:ext cx="2520950" cy="1195040"/>
          </a:xfrm>
          <a:prstGeom prst="roundRect">
            <a:avLst>
              <a:gd name="adj" fmla="val 8236"/>
            </a:avLst>
          </a:prstGeom>
          <a:solidFill>
            <a:srgbClr val="FFFFFF"/>
          </a:solidFill>
          <a:ln w="6350">
            <a:solidFill>
              <a:srgbClr val="6A7179"/>
            </a:solidFill>
            <a:prstDash val="dash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9061450" y="213990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Optional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61450" y="2459930"/>
            <a:ext cx="21714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own registry.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360341"/>
            <a:ext cx="10566400" cy="1208980"/>
          </a:xfrm>
          <a:prstGeom prst="roundRect">
            <a:avLst>
              <a:gd name="adj" fmla="val 8404"/>
            </a:avLst>
          </a:prstGeom>
          <a:solidFill>
            <a:srgbClr val="0E1B2A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pull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Week-05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 LAB-GUIDE.tr.md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26DD0B5-622E-FE91-C074-CB2D7AEEF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HW-2 · DUE TUE 27 OCT, 14:00 · INDIVIDUAL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services with Compose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5175250" cy="2128292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deliver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5982" y="2591991"/>
            <a:ext cx="4767199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app plus a second service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compose.yaml with a volume and a healthcheck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secrets in Git (.env.example only)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README and a screenshot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short written answers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84325"/>
            <a:ext cx="5175250" cy="2128292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64325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check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0782" y="2591991"/>
            <a:ext cx="4767199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command starts everything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finds the service by name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survives down, not down -v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Pinned images, non-root app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runs as the README says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3697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may use an AI assistant. You must be able to explain every line.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212E7EE-7B4C-37D8-6620-3BE927FB4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3380284" cy="1639540"/>
          </a:xfrm>
          <a:prstGeom prst="roundRect">
            <a:avLst>
              <a:gd name="adj" fmla="val 6003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591991"/>
            <a:ext cx="300423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find each other by name, in a network you create. Compose does it for you.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984325"/>
            <a:ext cx="3380333" cy="1639540"/>
          </a:xfrm>
          <a:prstGeom prst="roundRect">
            <a:avLst>
              <a:gd name="adj" fmla="val 6003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37584" y="221610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7584" y="2591991"/>
            <a:ext cx="300428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compose.yaml describes the whole system. It lives in Git and runs the same everywhere.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984325"/>
            <a:ext cx="3380333" cy="1639540"/>
          </a:xfrm>
          <a:prstGeom prst="roundRect">
            <a:avLst>
              <a:gd name="adj" fmla="val 6003"/>
            </a:avLst>
          </a:prstGeom>
          <a:solidFill>
            <a:srgbClr val="14283D"/>
          </a:solidFill>
          <a:ln w="6350">
            <a:solidFill>
              <a:srgbClr val="2A45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8227467" y="221610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Stateless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7467" y="2591991"/>
            <a:ext cx="300428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keeps no state. Data lives in a service and a volume, so the app can be replaced.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881041"/>
            <a:ext cx="10566400" cy="929580"/>
          </a:xfrm>
          <a:prstGeom prst="roundRect">
            <a:avLst>
              <a:gd name="adj" fmla="val 10930"/>
            </a:avLst>
          </a:prstGeom>
          <a:solidFill>
            <a:srgbClr val="F5F3EE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1041400" y="4058841"/>
            <a:ext cx="104124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4348361"/>
            <a:ext cx="104124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restarts a container that crashed? Who runs 50 copies on 10 machines? That is the job of Kubernetes.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8814AD9-A893-3139-AC61-564ABEBFA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ROAD TO YOUR PROJECT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16742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71550" y="2165300"/>
            <a:ext cx="14139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1550" y="2447230"/>
            <a:ext cx="141391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95017" y="1981150"/>
            <a:ext cx="1667966" cy="1137890"/>
          </a:xfrm>
          <a:prstGeom prst="roundRect">
            <a:avLst>
              <a:gd name="adj" fmla="val 8929"/>
            </a:avLst>
          </a:prstGeom>
          <a:solidFill>
            <a:srgbClr val="2763C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2747417" y="2158950"/>
            <a:ext cx="14139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7417" y="2440880"/>
            <a:ext cx="141396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7758" y="1984325"/>
            <a:ext cx="16742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523333" y="2165300"/>
            <a:ext cx="14139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3333" y="2447230"/>
            <a:ext cx="141391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9975" y="1984325"/>
            <a:ext cx="16743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6305550" y="2165300"/>
            <a:ext cx="14139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5550" y="2447230"/>
            <a:ext cx="1413966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and security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2241" y="1984325"/>
            <a:ext cx="16742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8087816" y="2165300"/>
            <a:ext cx="14139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7816" y="2447230"/>
            <a:ext cx="1413917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AI-assisted coding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11283" y="1981150"/>
            <a:ext cx="1667917" cy="1137890"/>
          </a:xfrm>
          <a:prstGeom prst="roundRect">
            <a:avLst>
              <a:gd name="adj" fmla="val 8929"/>
            </a:avLst>
          </a:prstGeom>
          <a:solidFill>
            <a:srgbClr val="0E1B2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9863683" y="2158950"/>
            <a:ext cx="14139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63683" y="2440880"/>
            <a:ext cx="1413917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project on VibeHub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33730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step makes your project easier to run, test and trust.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5 · Compose and Services</a:t>
            </a:r>
            <a:endParaRPr lang="en-US" sz="1200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8C0B708-1A4F-19FC-7560-16848A719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50" y="55245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ek 5 Compose and Services">
  <a:themeElements>
    <a:clrScheme name="Week 5 Compose and Services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F2A03D"/>
      </a:accent1>
      <a:accent2>
        <a:srgbClr val="B5560C"/>
      </a:accent2>
      <a:accent3>
        <a:srgbClr val="2763C2"/>
      </a:accent3>
      <a:accent4>
        <a:srgbClr val="8FA3B8"/>
      </a:accent4>
      <a:accent5>
        <a:srgbClr val="1F7A4D"/>
      </a:accent5>
      <a:accent6>
        <a:srgbClr val="B3261E"/>
      </a:accent6>
      <a:hlink>
        <a:srgbClr val="0563C1"/>
      </a:hlink>
      <a:folHlink>
        <a:srgbClr val="954F72"/>
      </a:folHlink>
    </a:clrScheme>
    <a:fontScheme name="Week 5 Compose and Service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1694</Words>
  <Application>Microsoft Macintosh PowerPoint</Application>
  <PresentationFormat>Widescreen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IBM Plex Sans</vt:lpstr>
      <vt:lpstr>JetBrains Mono</vt:lpstr>
      <vt:lpstr>Week 5 Compose and Services</vt:lpstr>
      <vt:lpstr>Services that find each other</vt:lpstr>
      <vt:lpstr>Our plan for two and a half hours</vt:lpstr>
      <vt:lpstr>Your questions make this class better</vt:lpstr>
      <vt:lpstr>What a good solution looks like</vt:lpstr>
      <vt:lpstr>Every check is a command</vt:lpstr>
      <vt:lpstr>Open your own Dockerfile</vt:lpstr>
      <vt:lpstr>How does one container find another?</vt:lpstr>
      <vt:lpstr>An IP address is not a good address</vt:lpstr>
      <vt:lpstr>Default network and your own network</vt:lpstr>
      <vt:lpstr>Several containers, one job each</vt:lpstr>
      <vt:lpstr>Five commands, or one file</vt:lpstr>
      <vt:lpstr>Four ideas in one file</vt:lpstr>
      <vt:lpstr>Start the whole system</vt:lpstr>
      <vt:lpstr>What happens to the counter?</vt:lpstr>
      <vt:lpstr>Three habits of a portable app</vt:lpstr>
      <vt:lpstr>A registry stores images</vt:lpstr>
      <vt:lpstr>Back at 15:45</vt:lpstr>
      <vt:lpstr>Compose, names and state</vt:lpstr>
      <vt:lpstr>Two services with Compose</vt:lpstr>
      <vt:lpstr>Three things to remember</vt:lpstr>
      <vt:lpstr>Where we 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Compose and Services</dc:title>
  <dc:subject/>
  <dc:creator/>
  <cp:lastModifiedBy>Mehmet Kahraman</cp:lastModifiedBy>
  <cp:revision>16</cp:revision>
  <dcterms:created xsi:type="dcterms:W3CDTF">2026-10-19T10:41:14Z</dcterms:created>
  <dcterms:modified xsi:type="dcterms:W3CDTF">2026-10-20T09:05:55Z</dcterms:modified>
</cp:coreProperties>
</file>