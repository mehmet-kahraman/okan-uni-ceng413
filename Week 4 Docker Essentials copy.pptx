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/>
    <p:restoredTop sz="75172"/>
  </p:normalViewPr>
  <p:slideViewPr>
    <p:cSldViewPr snapToGrid="0" snapToObjects="1">
      <p:cViewPr varScale="1">
        <p:scale>
          <a:sx n="93" d="100"/>
          <a:sy n="93" d="100"/>
        </p:scale>
        <p:origin x="12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87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31950"/>
            <a:ext cx="10566400" cy="401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31950"/>
            <a:ext cx="10566400" cy="401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13 OCTOBER 2026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41650"/>
            <a:ext cx="4027722" cy="173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</a:t>
            </a:r>
            <a:endParaRPr lang="en-US" sz="6400" dirty="0"/>
          </a:p>
          <a:p>
            <a:pPr marL="0" indent="0" algn="l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Essentials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4551710"/>
            <a:ext cx="6540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Images and containers, Dockerfile, layers, volumes, networking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440710"/>
            <a:ext cx="2795836" cy="401290"/>
          </a:xfrm>
          <a:prstGeom prst="roundRect">
            <a:avLst>
              <a:gd name="adj" fmla="val 50000"/>
            </a:avLst>
          </a:prstGeom>
          <a:solidFill>
            <a:srgbClr val="F2A0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1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focus: reproducibility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77200" y="1651000"/>
            <a:ext cx="3302000" cy="741660"/>
          </a:xfrm>
          <a:prstGeom prst="roundRect">
            <a:avLst>
              <a:gd name="adj" fmla="val 13699"/>
            </a:avLst>
          </a:prstGeom>
          <a:solidFill>
            <a:srgbClr val="F2A03D"/>
          </a:solidFill>
          <a:ln/>
        </p:spPr>
        <p:txBody>
          <a:bodyPr wrap="square" lIns="198842" tIns="198842" rIns="113498" bIns="17344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E1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77200" y="2494260"/>
            <a:ext cx="3302000" cy="741660"/>
          </a:xfrm>
          <a:prstGeom prst="roundRect">
            <a:avLst>
              <a:gd name="adj" fmla="val 13699"/>
            </a:avLst>
          </a:prstGeom>
          <a:solidFill>
            <a:srgbClr val="2763C2"/>
          </a:solidFill>
          <a:ln/>
        </p:spPr>
        <p:txBody>
          <a:bodyPr wrap="square" lIns="198842" tIns="198842" rIns="113498" bIns="17344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77200" y="3337520"/>
            <a:ext cx="3302000" cy="741660"/>
          </a:xfrm>
          <a:prstGeom prst="roundRect">
            <a:avLst>
              <a:gd name="adj" fmla="val 13699"/>
            </a:avLst>
          </a:prstGeom>
          <a:solidFill>
            <a:srgbClr val="1B3A57"/>
          </a:solidFill>
          <a:ln/>
        </p:spPr>
        <p:txBody>
          <a:bodyPr wrap="square" lIns="198842" tIns="198842" rIns="113498" bIns="17344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image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77200" y="418078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image is a stack of layers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Mehmet Kahraman · ATPTech × Istanbul Okan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FOR TODAY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hours, four blocks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50"/>
          <a:ext cx="10553700" cy="3474099"/>
        </p:xfrm>
        <a:graphic>
          <a:graphicData uri="http://schemas.openxmlformats.org/drawingml/2006/table">
            <a:tbl>
              <a:tblPr/>
              <a:tblGrid>
                <a:gridCol w="211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Block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we 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14:00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Welcome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Warm-up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14:10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Introduction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 containers?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14:20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 Concepts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Image, container, first demo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14:45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 Dockerfile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Layers, cache, good practice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15:25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 minutes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15:40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 State and network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Volumes, ports, networks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16:05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 Hands-on lab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Build and run your own image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16:40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Wrap-up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HW-1 and questions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9746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WARM-UP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85115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"It works on my machine."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9415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this ever happened to you? Raise your hand.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ANGLE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Reproducibility is a quality attribute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811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ISO/IEC 25010 describes software quality with characteristics. Containers help with three of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522786"/>
            <a:ext cx="3380284" cy="1520130"/>
          </a:xfrm>
          <a:prstGeom prst="roundRect">
            <a:avLst>
              <a:gd name="adj" fmla="val 6475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1073150" y="2779961"/>
            <a:ext cx="29519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3150" y="3216821"/>
            <a:ext cx="29519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the same on a laptop, a server and the cloud.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5809" y="2522786"/>
            <a:ext cx="3380333" cy="1520130"/>
          </a:xfrm>
          <a:prstGeom prst="roundRect">
            <a:avLst>
              <a:gd name="adj" fmla="val 6475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4662984" y="2779961"/>
            <a:ext cx="295196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Reliability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2984" y="3216821"/>
            <a:ext cx="295196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Fewer surprises caused by the environment.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95692" y="2522786"/>
            <a:ext cx="3380333" cy="1520130"/>
          </a:xfrm>
          <a:prstGeom prst="roundRect">
            <a:avLst>
              <a:gd name="adj" fmla="val 6475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8252867" y="2779961"/>
            <a:ext cx="295196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Maintainability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52867" y="3216821"/>
            <a:ext cx="295196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environment is written as code and kept in Git.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 machine or container?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523240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 machines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255441"/>
            <a:ext cx="5232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VM carries its own operating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5975" y="2591346"/>
            <a:ext cx="5073650" cy="3117652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hape 5"/>
          <p:cNvSpPr/>
          <p:nvPr/>
        </p:nvSpPr>
        <p:spPr>
          <a:xfrm>
            <a:off x="952500" y="2727871"/>
            <a:ext cx="2343150" cy="1602631"/>
          </a:xfrm>
          <a:prstGeom prst="roundRect">
            <a:avLst>
              <a:gd name="adj" fmla="val 4358"/>
            </a:avLst>
          </a:prstGeom>
          <a:solidFill>
            <a:srgbClr val="EEF3FA"/>
          </a:solidFill>
          <a:ln w="12700">
            <a:solidFill>
              <a:srgbClr val="2763C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1047750" y="2823121"/>
            <a:ext cx="221723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VM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4100" y="3063131"/>
            <a:ext cx="2139950" cy="363190"/>
          </a:xfrm>
          <a:prstGeom prst="roundRect">
            <a:avLst>
              <a:gd name="adj" fmla="val 12239"/>
            </a:avLst>
          </a:prstGeom>
          <a:solidFill>
            <a:srgbClr val="FFFFFF"/>
          </a:solidFill>
          <a:ln w="12700">
            <a:solidFill>
              <a:srgbClr val="2763C2"/>
            </a:solidFill>
            <a:prstDash val="solid"/>
          </a:ln>
        </p:spPr>
        <p:txBody>
          <a:bodyPr wrap="square" lIns="92232" tIns="69531" rIns="92232" bIns="4413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47750" y="3483471"/>
            <a:ext cx="2152650" cy="350490"/>
          </a:xfrm>
          <a:prstGeom prst="roundRect">
            <a:avLst>
              <a:gd name="adj" fmla="val 14494"/>
            </a:avLst>
          </a:prstGeom>
          <a:solidFill>
            <a:srgbClr val="DCE7F5"/>
          </a:solidFill>
          <a:ln/>
        </p:spPr>
        <p:txBody>
          <a:bodyPr wrap="square" lIns="83641" tIns="61321" rIns="83641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7750" y="3884761"/>
            <a:ext cx="2152650" cy="350490"/>
          </a:xfrm>
          <a:prstGeom prst="roundRect">
            <a:avLst>
              <a:gd name="adj" fmla="val 14494"/>
            </a:avLst>
          </a:prstGeom>
          <a:solidFill>
            <a:srgbClr val="B5560C"/>
          </a:solidFill>
          <a:ln/>
        </p:spPr>
        <p:txBody>
          <a:bodyPr wrap="square" lIns="83641" tIns="61321" rIns="83641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Guest 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09950" y="2727871"/>
            <a:ext cx="2343150" cy="1602631"/>
          </a:xfrm>
          <a:prstGeom prst="roundRect">
            <a:avLst>
              <a:gd name="adj" fmla="val 4358"/>
            </a:avLst>
          </a:prstGeom>
          <a:solidFill>
            <a:srgbClr val="EEF3FA"/>
          </a:solidFill>
          <a:ln w="12700">
            <a:solidFill>
              <a:srgbClr val="2763C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3505200" y="2823121"/>
            <a:ext cx="221723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VM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11550" y="3063131"/>
            <a:ext cx="2139950" cy="363190"/>
          </a:xfrm>
          <a:prstGeom prst="roundRect">
            <a:avLst>
              <a:gd name="adj" fmla="val 12239"/>
            </a:avLst>
          </a:prstGeom>
          <a:solidFill>
            <a:srgbClr val="FFFFFF"/>
          </a:solidFill>
          <a:ln w="12700">
            <a:solidFill>
              <a:srgbClr val="2763C2"/>
            </a:solidFill>
            <a:prstDash val="solid"/>
          </a:ln>
        </p:spPr>
        <p:txBody>
          <a:bodyPr wrap="square" lIns="92232" tIns="69531" rIns="92232" bIns="4413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05200" y="3483471"/>
            <a:ext cx="2152650" cy="350490"/>
          </a:xfrm>
          <a:prstGeom prst="roundRect">
            <a:avLst>
              <a:gd name="adj" fmla="val 14494"/>
            </a:avLst>
          </a:prstGeom>
          <a:solidFill>
            <a:srgbClr val="DCE7F5"/>
          </a:solidFill>
          <a:ln/>
        </p:spPr>
        <p:txBody>
          <a:bodyPr wrap="square" lIns="83641" tIns="61321" rIns="83641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5200" y="3884761"/>
            <a:ext cx="2152650" cy="350490"/>
          </a:xfrm>
          <a:prstGeom prst="roundRect">
            <a:avLst>
              <a:gd name="adj" fmla="val 14494"/>
            </a:avLst>
          </a:prstGeom>
          <a:solidFill>
            <a:srgbClr val="B5560C"/>
          </a:solidFill>
          <a:ln/>
        </p:spPr>
        <p:txBody>
          <a:bodyPr wrap="square" lIns="83641" tIns="61321" rIns="83641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Guest 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6150" y="4400352"/>
            <a:ext cx="4813300" cy="350490"/>
          </a:xfrm>
          <a:prstGeom prst="roundRect">
            <a:avLst>
              <a:gd name="adj" fmla="val 14494"/>
            </a:avLst>
          </a:prstGeom>
          <a:solidFill>
            <a:srgbClr val="F2A03D"/>
          </a:solidFill>
          <a:ln/>
        </p:spPr>
        <p:txBody>
          <a:bodyPr wrap="square" lIns="43732" tIns="61321" rIns="43732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Hypervisor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6150" y="4814342"/>
            <a:ext cx="4813300" cy="350490"/>
          </a:xfrm>
          <a:prstGeom prst="roundRect">
            <a:avLst>
              <a:gd name="adj" fmla="val 14494"/>
            </a:avLst>
          </a:prstGeom>
          <a:solidFill>
            <a:srgbClr val="2763C2"/>
          </a:solidFill>
          <a:ln/>
        </p:spPr>
        <p:txBody>
          <a:bodyPr wrap="square" lIns="43732" tIns="61321" rIns="43732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6150" y="5228332"/>
            <a:ext cx="4813300" cy="350490"/>
          </a:xfrm>
          <a:prstGeom prst="roundRect">
            <a:avLst>
              <a:gd name="adj" fmla="val 14494"/>
            </a:avLst>
          </a:prstGeom>
          <a:solidFill>
            <a:srgbClr val="1B3A57"/>
          </a:solidFill>
          <a:ln/>
        </p:spPr>
        <p:txBody>
          <a:bodyPr wrap="square" lIns="43732" tIns="61321" rIns="43732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 (node)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9200" y="1879550"/>
            <a:ext cx="523240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99200" y="2255441"/>
            <a:ext cx="5232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 share the kernel of the host 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2375" y="2591346"/>
            <a:ext cx="5073650" cy="3117652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Shape 21"/>
          <p:cNvSpPr/>
          <p:nvPr/>
        </p:nvSpPr>
        <p:spPr>
          <a:xfrm>
            <a:off x="6438900" y="3129161"/>
            <a:ext cx="2343150" cy="1201341"/>
          </a:xfrm>
          <a:prstGeom prst="roundRect">
            <a:avLst>
              <a:gd name="adj" fmla="val 5814"/>
            </a:avLst>
          </a:prstGeom>
          <a:solidFill>
            <a:srgbClr val="EEF3FA"/>
          </a:solidFill>
          <a:ln w="12700">
            <a:solidFill>
              <a:srgbClr val="2763C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2"/>
          <p:cNvSpPr/>
          <p:nvPr/>
        </p:nvSpPr>
        <p:spPr>
          <a:xfrm>
            <a:off x="6534150" y="3224411"/>
            <a:ext cx="221723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40500" y="3464421"/>
            <a:ext cx="2139950" cy="363190"/>
          </a:xfrm>
          <a:prstGeom prst="roundRect">
            <a:avLst>
              <a:gd name="adj" fmla="val 12239"/>
            </a:avLst>
          </a:prstGeom>
          <a:solidFill>
            <a:srgbClr val="FFFFFF"/>
          </a:solidFill>
          <a:ln w="12700">
            <a:solidFill>
              <a:srgbClr val="2763C2"/>
            </a:solidFill>
            <a:prstDash val="solid"/>
          </a:ln>
        </p:spPr>
        <p:txBody>
          <a:bodyPr wrap="square" lIns="92232" tIns="69531" rIns="92232" bIns="4413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4150" y="3884761"/>
            <a:ext cx="2152650" cy="350490"/>
          </a:xfrm>
          <a:prstGeom prst="roundRect">
            <a:avLst>
              <a:gd name="adj" fmla="val 14494"/>
            </a:avLst>
          </a:prstGeom>
          <a:solidFill>
            <a:srgbClr val="DCE7F5"/>
          </a:solidFill>
          <a:ln/>
        </p:spPr>
        <p:txBody>
          <a:bodyPr wrap="square" lIns="83641" tIns="61321" rIns="83641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96350" y="3129161"/>
            <a:ext cx="2343150" cy="1201341"/>
          </a:xfrm>
          <a:prstGeom prst="roundRect">
            <a:avLst>
              <a:gd name="adj" fmla="val 5814"/>
            </a:avLst>
          </a:prstGeom>
          <a:solidFill>
            <a:srgbClr val="EEF3FA"/>
          </a:solidFill>
          <a:ln w="12700">
            <a:solidFill>
              <a:srgbClr val="2763C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6"/>
          <p:cNvSpPr/>
          <p:nvPr/>
        </p:nvSpPr>
        <p:spPr>
          <a:xfrm>
            <a:off x="8991600" y="3224411"/>
            <a:ext cx="221723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97950" y="3464421"/>
            <a:ext cx="2139950" cy="363190"/>
          </a:xfrm>
          <a:prstGeom prst="roundRect">
            <a:avLst>
              <a:gd name="adj" fmla="val 12239"/>
            </a:avLst>
          </a:prstGeom>
          <a:solidFill>
            <a:srgbClr val="FFFFFF"/>
          </a:solidFill>
          <a:ln w="12700">
            <a:solidFill>
              <a:srgbClr val="2763C2"/>
            </a:solidFill>
            <a:prstDash val="solid"/>
          </a:ln>
        </p:spPr>
        <p:txBody>
          <a:bodyPr wrap="square" lIns="92232" tIns="69531" rIns="92232" bIns="4413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91600" y="3884761"/>
            <a:ext cx="2152650" cy="350490"/>
          </a:xfrm>
          <a:prstGeom prst="roundRect">
            <a:avLst>
              <a:gd name="adj" fmla="val 14494"/>
            </a:avLst>
          </a:prstGeom>
          <a:solidFill>
            <a:srgbClr val="DCE7F5"/>
          </a:solidFill>
          <a:ln/>
        </p:spPr>
        <p:txBody>
          <a:bodyPr wrap="square" lIns="83641" tIns="61321" rIns="83641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32550" y="4400352"/>
            <a:ext cx="4813300" cy="350490"/>
          </a:xfrm>
          <a:prstGeom prst="roundRect">
            <a:avLst>
              <a:gd name="adj" fmla="val 14494"/>
            </a:avLst>
          </a:prstGeom>
          <a:solidFill>
            <a:srgbClr val="F2A03D"/>
          </a:solidFill>
          <a:ln/>
        </p:spPr>
        <p:txBody>
          <a:bodyPr wrap="square" lIns="43732" tIns="61321" rIns="43732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engine (Docker)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32550" y="4814342"/>
            <a:ext cx="4813300" cy="350490"/>
          </a:xfrm>
          <a:prstGeom prst="roundRect">
            <a:avLst>
              <a:gd name="adj" fmla="val 14494"/>
            </a:avLst>
          </a:prstGeom>
          <a:solidFill>
            <a:srgbClr val="2763C2"/>
          </a:solidFill>
          <a:ln/>
        </p:spPr>
        <p:txBody>
          <a:bodyPr wrap="square" lIns="43732" tIns="61321" rIns="43732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OS (shared kernel)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32550" y="5228332"/>
            <a:ext cx="4813300" cy="350490"/>
          </a:xfrm>
          <a:prstGeom prst="roundRect">
            <a:avLst>
              <a:gd name="adj" fmla="val 14494"/>
            </a:avLst>
          </a:prstGeom>
          <a:solidFill>
            <a:srgbClr val="1B3A57"/>
          </a:solidFill>
          <a:ln/>
        </p:spPr>
        <p:txBody>
          <a:bodyPr wrap="square" lIns="43732" tIns="61321" rIns="43732" bIns="35921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 (node)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VM and container compared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50"/>
          <a:ext cx="10553700" cy="2316066"/>
        </p:xfrm>
        <a:graphic>
          <a:graphicData uri="http://schemas.openxmlformats.org/drawingml/2006/table">
            <a:tbl>
              <a:tblPr/>
              <a:tblGrid>
                <a:gridCol w="2321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5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5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Virtual machine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Container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Contains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Full guest operating system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 and its dependencies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 time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Minutes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Seconds or less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Size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Gigabytes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Megabytes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Isolation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Strong, own kernel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Process level, shared kernel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Typical use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Whole servers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application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563914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container is not a small virtual machine. It is an isolated process.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 and container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7500"/>
            <a:ext cx="5168900" cy="1876971"/>
          </a:xfrm>
          <a:prstGeom prst="roundRect">
            <a:avLst>
              <a:gd name="adj" fmla="val 5075"/>
            </a:avLst>
          </a:prstGeom>
          <a:solidFill>
            <a:srgbClr val="16293D"/>
          </a:solidFill>
          <a:ln w="12700">
            <a:solidFill>
              <a:srgbClr val="2763C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79500" y="2247850"/>
            <a:ext cx="47876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7DB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9500" y="2684711"/>
            <a:ext cx="47876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read-only template. Layers plus metadata. Built once, stored in a registry.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3355231"/>
            <a:ext cx="478764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Like a recipe, or a class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3950" y="1987500"/>
            <a:ext cx="5168900" cy="1876971"/>
          </a:xfrm>
          <a:prstGeom prst="roundRect">
            <a:avLst>
              <a:gd name="adj" fmla="val 5075"/>
            </a:avLst>
          </a:prstGeom>
          <a:solidFill>
            <a:srgbClr val="16293D"/>
          </a:solidFill>
          <a:ln w="12700">
            <a:solidFill>
              <a:srgbClr val="F2A03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6464300" y="2247850"/>
            <a:ext cx="47876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64300" y="2684711"/>
            <a:ext cx="47876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running instance of an image. Adds a thin writable layer on top.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4300" y="3355231"/>
            <a:ext cx="478764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Like a dish, or an object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124821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image, many containers.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life of a container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2005310" cy="1132731"/>
          </a:xfrm>
          <a:prstGeom prst="roundRect">
            <a:avLst>
              <a:gd name="adj" fmla="val 8689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996950" y="2165300"/>
            <a:ext cx="16941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63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pull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950" y="2490391"/>
            <a:ext cx="16941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Download an image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4635" y="1984325"/>
            <a:ext cx="2005360" cy="1132731"/>
          </a:xfrm>
          <a:prstGeom prst="roundRect">
            <a:avLst>
              <a:gd name="adj" fmla="val 8689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3135610" y="2165300"/>
            <a:ext cx="16942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63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35610" y="2490391"/>
            <a:ext cx="169421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and start a container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93345" y="1984325"/>
            <a:ext cx="2005310" cy="1132731"/>
          </a:xfrm>
          <a:prstGeom prst="roundRect">
            <a:avLst>
              <a:gd name="adj" fmla="val 8689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5274320" y="2165300"/>
            <a:ext cx="16941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63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4320" y="2490391"/>
            <a:ext cx="169416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running containers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32005" y="1984325"/>
            <a:ext cx="2005360" cy="1132731"/>
          </a:xfrm>
          <a:prstGeom prst="roundRect">
            <a:avLst>
              <a:gd name="adj" fmla="val 8689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7412980" y="2165300"/>
            <a:ext cx="16942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63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stop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12980" y="2490391"/>
            <a:ext cx="169421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it politely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70715" y="1984325"/>
            <a:ext cx="2005310" cy="1132731"/>
          </a:xfrm>
          <a:prstGeom prst="roundRect">
            <a:avLst>
              <a:gd name="adj" fmla="val 8689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9551690" y="2165300"/>
            <a:ext cx="16941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63C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51690" y="2490391"/>
            <a:ext cx="18211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the container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337423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run does a pull for you if the image is missing. Add docker logs and docker exec to look inside.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first containers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1984325"/>
            <a:ext cx="6389390" cy="2629892"/>
          </a:xfrm>
          <a:prstGeom prst="roundRect">
            <a:avLst>
              <a:gd name="adj" fmla="val 3743"/>
            </a:avLst>
          </a:prstGeom>
          <a:solidFill>
            <a:srgbClr val="16293D"/>
          </a:solidFill>
          <a:ln w="6350">
            <a:solidFill>
              <a:srgbClr val="2B4660"/>
            </a:solidFill>
            <a:prstDash val="solid"/>
          </a:ln>
        </p:spPr>
        <p:txBody>
          <a:bodyPr wrap="square" lIns="228347" tIns="228347" rIns="52096" bIns="202947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hello-world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run -d --name web -p 8080:80 nginx:1.27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curl http://localhost:8080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ps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logs web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stop web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rm web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62540" y="1981150"/>
            <a:ext cx="40341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 out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33660" y="2392611"/>
            <a:ext cx="39554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image is downloaded once</a:t>
            </a:r>
            <a:endParaRPr lang="en-US" sz="1500" dirty="0"/>
          </a:p>
          <a:p>
            <a:pPr marL="182880" indent="-1828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-d runs in the background</a:t>
            </a:r>
            <a:endParaRPr lang="en-US" sz="1500" dirty="0"/>
          </a:p>
          <a:p>
            <a:pPr marL="182880" indent="-1828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-p maps host port to container port</a:t>
            </a:r>
            <a:endParaRPr lang="en-US" sz="1500" dirty="0"/>
          </a:p>
          <a:p>
            <a:pPr marL="182880" indent="-1828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the container: image stays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recipe for your image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81150"/>
            <a:ext cx="6390630" cy="2623542"/>
          </a:xfrm>
          <a:prstGeom prst="roundRect">
            <a:avLst>
              <a:gd name="adj" fmla="val 3873"/>
            </a:avLst>
          </a:prstGeom>
          <a:solidFill>
            <a:srgbClr val="0E1B2A"/>
          </a:solidFill>
          <a:ln/>
        </p:spPr>
        <p:txBody>
          <a:bodyPr wrap="square" lIns="224242" tIns="224242" rIns="47763" bIns="198842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python:3.12-slim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WORKDIR /app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requirements.txt .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pip install -r requirements.txt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. .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EXPOSE 8000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CMD ["gunicorn", "-b", "0.0.0.0:8000", "app:app"]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57430" y="1981150"/>
            <a:ext cx="40394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base image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57430" y="2331641"/>
            <a:ext cx="40394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WORKDIR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folder inside the image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57430" y="2682131"/>
            <a:ext cx="40394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files from your computer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7430" y="3032621"/>
            <a:ext cx="40394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command at build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7430" y="3383111"/>
            <a:ext cx="403942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CMD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command at run 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instruction is a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81150"/>
            <a:ext cx="5130800" cy="502890"/>
          </a:xfrm>
          <a:prstGeom prst="roundRect">
            <a:avLst>
              <a:gd name="adj" fmla="val 15152"/>
            </a:avLst>
          </a:prstGeom>
          <a:solidFill>
            <a:srgbClr val="F2A03D"/>
          </a:solidFill>
          <a:ln/>
        </p:spPr>
        <p:txBody>
          <a:bodyPr wrap="square" lIns="155482" tIns="104682" rIns="12226" bIns="792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. 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560241"/>
            <a:ext cx="5130800" cy="502890"/>
          </a:xfrm>
          <a:prstGeom prst="roundRect">
            <a:avLst>
              <a:gd name="adj" fmla="val 15152"/>
            </a:avLst>
          </a:prstGeom>
          <a:solidFill>
            <a:srgbClr val="2763C2"/>
          </a:solidFill>
          <a:ln/>
        </p:spPr>
        <p:txBody>
          <a:bodyPr wrap="square" lIns="155482" tIns="104682" rIns="12226" bIns="792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pip install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139331"/>
            <a:ext cx="5130800" cy="502890"/>
          </a:xfrm>
          <a:prstGeom prst="roundRect">
            <a:avLst>
              <a:gd name="adj" fmla="val 15152"/>
            </a:avLst>
          </a:prstGeom>
          <a:solidFill>
            <a:srgbClr val="2763C2"/>
          </a:solidFill>
          <a:ln/>
        </p:spPr>
        <p:txBody>
          <a:bodyPr wrap="square" lIns="155482" tIns="104682" rIns="12226" bIns="792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requirements.txt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718421"/>
            <a:ext cx="5130800" cy="502890"/>
          </a:xfrm>
          <a:prstGeom prst="roundRect">
            <a:avLst>
              <a:gd name="adj" fmla="val 15152"/>
            </a:avLst>
          </a:prstGeom>
          <a:solidFill>
            <a:srgbClr val="1B3A57"/>
          </a:solidFill>
          <a:ln/>
        </p:spPr>
        <p:txBody>
          <a:bodyPr wrap="square" lIns="155482" tIns="104682" rIns="12226" bIns="792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WORKDIR /app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297511"/>
            <a:ext cx="5130800" cy="502890"/>
          </a:xfrm>
          <a:prstGeom prst="roundRect">
            <a:avLst>
              <a:gd name="adj" fmla="val 15152"/>
            </a:avLst>
          </a:prstGeom>
          <a:solidFill>
            <a:srgbClr val="1B3A57"/>
          </a:solidFill>
          <a:ln/>
        </p:spPr>
        <p:txBody>
          <a:bodyPr wrap="square" lIns="155482" tIns="104682" rIns="12226" bIns="792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python:3.12-slim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48400" y="2515146"/>
            <a:ext cx="528472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Layers are read-only and cached.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48400" y="2976116"/>
            <a:ext cx="528472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one layer changes, Docker rebuilds that layer and every layer above it.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8400" y="3697436"/>
            <a:ext cx="528472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Layers can be shared between images, which saves disk and download time.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CACHE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7500"/>
            <a:ext cx="5168900" cy="2519511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54100" y="2222450"/>
            <a:ext cx="483997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Slow: reinstalls on every edit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4100" y="2633911"/>
            <a:ext cx="4699000" cy="960041"/>
          </a:xfrm>
          <a:prstGeom prst="roundRect">
            <a:avLst>
              <a:gd name="adj" fmla="val 7937"/>
            </a:avLst>
          </a:prstGeom>
          <a:solidFill>
            <a:srgbClr val="0E1B2A"/>
          </a:solidFill>
          <a:ln/>
        </p:spPr>
        <p:txBody>
          <a:bodyPr wrap="square" lIns="155482" tIns="155482" rIns="25180" bIns="130082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. .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pip install -r requirements.txt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4100" y="3720951"/>
            <a:ext cx="4927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code change breaks the cache before the install step.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3950" y="1987500"/>
            <a:ext cx="5168900" cy="2519511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6438900" y="2222450"/>
            <a:ext cx="483997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Fast: install is cached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8900" y="2633911"/>
            <a:ext cx="4699000" cy="1262261"/>
          </a:xfrm>
          <a:prstGeom prst="roundRect">
            <a:avLst>
              <a:gd name="adj" fmla="val 6037"/>
            </a:avLst>
          </a:prstGeom>
          <a:solidFill>
            <a:srgbClr val="0E1B2A"/>
          </a:solidFill>
          <a:ln/>
        </p:spPr>
        <p:txBody>
          <a:bodyPr wrap="square" lIns="155482" tIns="155482" rIns="25180" bIns="130082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requirements.txt .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pip install -r requirements.txt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. 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38900" y="4023171"/>
            <a:ext cx="48399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 change rarely, so Docker reuses that layer.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 PRACTICE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quality checklist for images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50"/>
          <a:ext cx="10553700" cy="2702077"/>
        </p:xfrm>
        <a:graphic>
          <a:graphicData uri="http://schemas.openxmlformats.org/drawingml/2006/table">
            <a:tbl>
              <a:tblPr/>
              <a:tblGrid>
                <a:gridCol w="4854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8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 this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Quality benefit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Pin versions: python:3.12-slim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Reproducible builds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 a small base image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Less size, fewer vulnerabilities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a .dockerignore file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Smaller build, no secrets or .git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 as a non-root user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Limits the damage of an attack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main process per container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Simple to run and to monitor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Never put secrets in the image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Pass them at run time instead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87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4160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40"/>
              </a:lnSpc>
              <a:buNone/>
            </a:pPr>
            <a:r>
              <a:rPr lang="en-US" sz="64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minutes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789660"/>
            <a:ext cx="10883392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you at 15:40. Please open Docker Desktop and run docker version while you wait.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 are ephemeral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811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 container is removed, its writable layer is gone. Data that must stay needs a home outside.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522786"/>
            <a:ext cx="3380284" cy="1652141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1047750" y="2754561"/>
            <a:ext cx="30042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326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130451"/>
            <a:ext cx="31453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Deleted together with the container.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2522786"/>
            <a:ext cx="3380333" cy="1652141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4637584" y="2754561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37584" y="3130451"/>
            <a:ext cx="300428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by Docker. Survives removal.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7584" y="3729831"/>
            <a:ext cx="30042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-v mydata:/data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692" y="2522786"/>
            <a:ext cx="3380333" cy="1652141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8227467" y="2754561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Bind mount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7467" y="3130451"/>
            <a:ext cx="300428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host folder inside the container. Good for development.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7467" y="3729831"/>
            <a:ext cx="30042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-v ./src:/app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5807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IDEA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6096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for disposable containers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685480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stateless app keeps no important data inside the container. State lives in a database, in object storage or in a volume. Then any container can be stopped and replaced at any time.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Ports and names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5175250" cy="2698552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47750" y="2216100"/>
            <a:ext cx="485305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 a 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617391"/>
            <a:ext cx="485305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a door from your computer into the container.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7750" y="2993281"/>
            <a:ext cx="4711700" cy="568920"/>
          </a:xfrm>
          <a:prstGeom prst="roundRect">
            <a:avLst>
              <a:gd name="adj" fmla="val 13394"/>
            </a:avLst>
          </a:prstGeom>
          <a:solidFill>
            <a:srgbClr val="0E1B2A"/>
          </a:solidFill>
          <a:ln/>
        </p:spPr>
        <p:txBody>
          <a:bodyPr wrap="square" lIns="130082" tIns="130082" rIns="0" bIns="104682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-p 8080:80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7750" y="3689201"/>
            <a:ext cx="485305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port : container 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984325"/>
            <a:ext cx="5175250" cy="2698552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6432550" y="2216100"/>
            <a:ext cx="485305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Talk by name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32550" y="2617391"/>
            <a:ext cx="485305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 user-defined network, containers find each other by name.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32550" y="3242171"/>
            <a:ext cx="4711700" cy="833041"/>
          </a:xfrm>
          <a:prstGeom prst="roundRect">
            <a:avLst>
              <a:gd name="adj" fmla="val 9147"/>
            </a:avLst>
          </a:prstGeom>
          <a:solidFill>
            <a:srgbClr val="0E1B2A"/>
          </a:solidFill>
          <a:ln/>
        </p:spPr>
        <p:txBody>
          <a:bodyPr wrap="square" lIns="130082" tIns="130082" rIns="0" bIns="104682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docker network create app-net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D6E4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--network app-net --name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32550" y="4202212"/>
            <a:ext cx="485305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http://api:8000 works inside the network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 LAB · 35 MINUTES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Build, run, break, fix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7534" y="1930350"/>
            <a:ext cx="10861038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9266" indent="-239266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the lab folder and open a terminal in it</a:t>
            </a:r>
            <a:endParaRPr lang="en-US" sz="1700" dirty="0"/>
          </a:p>
          <a:p>
            <a:pPr marL="239266" indent="-239266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slow version (Dockerfile.v1) and run it</a:t>
            </a:r>
            <a:endParaRPr lang="en-US" sz="1700" dirty="0"/>
          </a:p>
          <a:p>
            <a:pPr marL="239266" indent="-239266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 /health and /greet?name=YourName</a:t>
            </a:r>
            <a:endParaRPr lang="en-US" sz="1700" dirty="0"/>
          </a:p>
          <a:p>
            <a:pPr marL="239266" indent="-239266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Edit app.py and rebuild with the cache-friendly Dockerfile</a:t>
            </a:r>
            <a:endParaRPr lang="en-US" sz="1700" dirty="0"/>
          </a:p>
          <a:p>
            <a:pPr marL="239266" indent="-239266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/visit: lose the data, then keep it with a volume</a:t>
            </a:r>
            <a:endParaRPr lang="en-US" sz="1700" dirty="0"/>
          </a:p>
          <a:p>
            <a:pPr marL="239266" indent="-239266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Bonus: call the app from another container by name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410205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Clone: [repo URL] · Guide: LAB-GUIDE.md (Turkish: LAB-GUIDE.tr.md). Work in pairs. Ask early.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HW-1 · DUE [DATE TO BE CONFIRMED]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Containerize a small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325"/>
            <a:ext cx="5175250" cy="2128292"/>
          </a:xfrm>
          <a:prstGeom prst="roundRect">
            <a:avLst>
              <a:gd name="adj" fmla="val 4625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047750" y="2216100"/>
            <a:ext cx="485305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deliver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5982" y="2591991"/>
            <a:ext cx="4767199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Git repo with a small web app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Dockerfile and .dockerignore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README: how to build and run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screenshot of the running container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short written answers</a:t>
            </a:r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endParaRPr lang="en-US" sz="1400" dirty="0">
              <a:solidFill>
                <a:srgbClr val="14213D"/>
              </a:solidFill>
              <a:latin typeface="IBM Plex Sans" pitchFamily="34" charset="0"/>
            </a:endParaRPr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984325"/>
            <a:ext cx="5175250" cy="2128292"/>
          </a:xfrm>
          <a:prstGeom prst="roundRect">
            <a:avLst>
              <a:gd name="adj" fmla="val 4625"/>
            </a:avLst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6432550" y="2216100"/>
            <a:ext cx="485305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check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10782" y="2591991"/>
            <a:ext cx="4767199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builds from a clean clone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Versions are pinned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Cache-friendly layer order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Non-root user, no secrets inside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runs as the README says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B556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things to remember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3495" y="1981150"/>
            <a:ext cx="10875077" cy="1796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3305" indent="-253305" algn="l">
              <a:lnSpc>
                <a:spcPts val="279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image is the template. A container is a running instance.</a:t>
            </a:r>
            <a:endParaRPr lang="en-US" sz="1800" dirty="0"/>
          </a:p>
          <a:p>
            <a:pPr marL="253305" indent="-253305" algn="l">
              <a:lnSpc>
                <a:spcPts val="279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Dockerfile is the recipe. It lives in Git.</a:t>
            </a:r>
            <a:endParaRPr lang="en-US" sz="1800" dirty="0"/>
          </a:p>
          <a:p>
            <a:pPr marL="253305" indent="-253305" algn="l">
              <a:lnSpc>
                <a:spcPts val="279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Layers are cached. Put what changes least first.</a:t>
            </a:r>
            <a:endParaRPr lang="en-US" sz="1800" dirty="0"/>
          </a:p>
          <a:p>
            <a:pPr marL="253305" indent="-253305" algn="l">
              <a:lnSpc>
                <a:spcPts val="279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 are disposable. Keep state in volumes or services.</a:t>
            </a:r>
            <a:endParaRPr lang="en-US" sz="1800" dirty="0"/>
          </a:p>
          <a:p>
            <a:pPr marL="253305" indent="-253305" algn="l">
              <a:lnSpc>
                <a:spcPts val="2790"/>
              </a:lnSpc>
              <a:buSzPct val="100000"/>
              <a:buFontTx/>
              <a:buAutoNum type="arabicPeriod"/>
            </a:pPr>
            <a:r>
              <a:rPr lang="en-US" sz="1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Ports open doors. Networks give names.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006701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276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artifact, same behavior, everywhere.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0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THIS IS GOING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learning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1150"/>
            <a:ext cx="1665784" cy="1104850"/>
          </a:xfrm>
          <a:prstGeom prst="roundRect">
            <a:avLst>
              <a:gd name="adj" fmla="val 9196"/>
            </a:avLst>
          </a:prstGeom>
          <a:solidFill>
            <a:srgbClr val="F2A03D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990600" y="2158950"/>
            <a:ext cx="136098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1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0600" y="2484041"/>
            <a:ext cx="1360984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1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83359" y="1984325"/>
            <a:ext cx="1672183" cy="1098500"/>
          </a:xfrm>
          <a:prstGeom prst="roundRect">
            <a:avLst>
              <a:gd name="adj" fmla="val 8960"/>
            </a:avLst>
          </a:prstGeom>
          <a:solidFill>
            <a:srgbClr val="16293D"/>
          </a:solidFill>
          <a:ln w="6350">
            <a:solidFill>
              <a:srgbClr val="2B46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2764334" y="2165300"/>
            <a:ext cx="13610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64334" y="2490391"/>
            <a:ext cx="1361033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containers at scale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3492" y="1984325"/>
            <a:ext cx="1672134" cy="1098500"/>
          </a:xfrm>
          <a:prstGeom prst="roundRect">
            <a:avLst>
              <a:gd name="adj" fmla="val 8960"/>
            </a:avLst>
          </a:prstGeom>
          <a:solidFill>
            <a:srgbClr val="16293D"/>
          </a:solidFill>
          <a:ln w="6350">
            <a:solidFill>
              <a:srgbClr val="2B46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544467" y="2165300"/>
            <a:ext cx="136098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4467" y="2490391"/>
            <a:ext cx="1360984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3575" y="1984325"/>
            <a:ext cx="1672183" cy="1098500"/>
          </a:xfrm>
          <a:prstGeom prst="roundRect">
            <a:avLst>
              <a:gd name="adj" fmla="val 8960"/>
            </a:avLst>
          </a:prstGeom>
          <a:solidFill>
            <a:srgbClr val="16293D"/>
          </a:solidFill>
          <a:ln w="6350">
            <a:solidFill>
              <a:srgbClr val="2B46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6324550" y="2165300"/>
            <a:ext cx="13610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DevSecOps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4550" y="2490391"/>
            <a:ext cx="1361033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gates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23709" y="1984325"/>
            <a:ext cx="1672183" cy="1098500"/>
          </a:xfrm>
          <a:prstGeom prst="roundRect">
            <a:avLst>
              <a:gd name="adj" fmla="val 8960"/>
            </a:avLst>
          </a:prstGeom>
          <a:solidFill>
            <a:srgbClr val="16293D"/>
          </a:solidFill>
          <a:ln w="6350">
            <a:solidFill>
              <a:srgbClr val="2B46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8104684" y="2165300"/>
            <a:ext cx="13610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pair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04684" y="2490391"/>
            <a:ext cx="1361033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with an assistant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03842" y="1984325"/>
            <a:ext cx="1672183" cy="1098500"/>
          </a:xfrm>
          <a:prstGeom prst="roundRect">
            <a:avLst>
              <a:gd name="adj" fmla="val 8960"/>
            </a:avLst>
          </a:prstGeom>
          <a:solidFill>
            <a:srgbClr val="16293D"/>
          </a:solidFill>
          <a:ln w="6350">
            <a:solidFill>
              <a:srgbClr val="2B466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/>
          <p:nvPr/>
        </p:nvSpPr>
        <p:spPr>
          <a:xfrm>
            <a:off x="9884817" y="2165300"/>
            <a:ext cx="13610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VibeHub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84817" y="2490391"/>
            <a:ext cx="1361033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your project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3340001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F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image you build today is what a platform runs tomorrow. The final project brings every step together.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CENG413 · Week 4 · Docker Essentials · order of topics to be confirmed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ek 4 Docker Essentials">
  <a:themeElements>
    <a:clrScheme name="Week 4 Docker Essentials">
      <a:dk1>
        <a:srgbClr val="14213D"/>
      </a:dk1>
      <a:lt1>
        <a:srgbClr val="F5F3EE"/>
      </a:lt1>
      <a:dk2>
        <a:srgbClr val="4C5669"/>
      </a:dk2>
      <a:lt2>
        <a:srgbClr val="DFDEDC"/>
      </a:lt2>
      <a:accent1>
        <a:srgbClr val="2763C2"/>
      </a:accent1>
      <a:accent2>
        <a:srgbClr val="F2A03D"/>
      </a:accent2>
      <a:accent3>
        <a:srgbClr val="B5560C"/>
      </a:accent3>
      <a:accent4>
        <a:srgbClr val="8FA6BA"/>
      </a:accent4>
      <a:accent5>
        <a:srgbClr val="1B3A57"/>
      </a:accent5>
      <a:accent6>
        <a:srgbClr val="B3261E"/>
      </a:accent6>
      <a:hlink>
        <a:srgbClr val="0563C1"/>
      </a:hlink>
      <a:folHlink>
        <a:srgbClr val="954F72"/>
      </a:folHlink>
    </a:clrScheme>
    <a:fontScheme name="Week 4 Docker Essentials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1413</Words>
  <Application>Microsoft Macintosh PowerPoint</Application>
  <PresentationFormat>Widescreen</PresentationFormat>
  <Paragraphs>299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IBM Plex Sans</vt:lpstr>
      <vt:lpstr>JetBrains Mono</vt:lpstr>
      <vt:lpstr>Week 4 Docker Essentials</vt:lpstr>
      <vt:lpstr>Docker Essentials</vt:lpstr>
      <vt:lpstr>Three hours, four blocks</vt:lpstr>
      <vt:lpstr>"It works on my machine."</vt:lpstr>
      <vt:lpstr>Reproducibility is a quality attribute</vt:lpstr>
      <vt:lpstr>Virtual machine or container?</vt:lpstr>
      <vt:lpstr>VM and container compared</vt:lpstr>
      <vt:lpstr>Image and container</vt:lpstr>
      <vt:lpstr>The life of a container</vt:lpstr>
      <vt:lpstr>Your first containers</vt:lpstr>
      <vt:lpstr>A recipe for your image</vt:lpstr>
      <vt:lpstr>Every instruction is a layer</vt:lpstr>
      <vt:lpstr>Order matters</vt:lpstr>
      <vt:lpstr>A quality checklist for images</vt:lpstr>
      <vt:lpstr>15 minutes</vt:lpstr>
      <vt:lpstr>Containers are ephemeral</vt:lpstr>
      <vt:lpstr>Design for disposable containers</vt:lpstr>
      <vt:lpstr>Ports and names</vt:lpstr>
      <vt:lpstr>Build, run, break, fix</vt:lpstr>
      <vt:lpstr>Containerize a small app</vt:lpstr>
      <vt:lpstr>Five things to remember</vt:lpstr>
      <vt:lpstr>Your learning journey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Docker Essentials</dc:title>
  <dc:subject/>
  <dc:creator/>
  <cp:lastModifiedBy>Mehmet Kahraman</cp:lastModifiedBy>
  <cp:revision>3</cp:revision>
  <dcterms:created xsi:type="dcterms:W3CDTF">2026-10-12T19:33:58Z</dcterms:created>
  <dcterms:modified xsi:type="dcterms:W3CDTF">2026-10-13T13:27:04Z</dcterms:modified>
</cp:coreProperties>
</file>